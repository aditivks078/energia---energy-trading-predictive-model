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9" r:id="rId4"/>
    <p:sldId id="261" r:id="rId5"/>
    <p:sldId id="262" r:id="rId6"/>
    <p:sldId id="268" r:id="rId7"/>
    <p:sldId id="280" r:id="rId8"/>
    <p:sldId id="272" r:id="rId9"/>
    <p:sldId id="263" r:id="rId10"/>
    <p:sldId id="288" r:id="rId11"/>
    <p:sldId id="258" r:id="rId12"/>
    <p:sldId id="278" r:id="rId13"/>
    <p:sldId id="264" r:id="rId14"/>
    <p:sldId id="287" r:id="rId15"/>
    <p:sldId id="265" r:id="rId16"/>
    <p:sldId id="286" r:id="rId17"/>
    <p:sldId id="281" r:id="rId18"/>
    <p:sldId id="283" r:id="rId19"/>
    <p:sldId id="284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DAD"/>
    <a:srgbClr val="C00001"/>
    <a:srgbClr val="E80424"/>
    <a:srgbClr val="FA0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071A3-DC45-FF4A-A2EC-B3302D47FCBD}" v="2284" dt="2026-02-19T12:59:51.473"/>
    <p1510:client id="{13D45249-B432-C080-F3EC-F20609483502}" v="64" dt="2026-02-18T20:50:29.251"/>
    <p1510:client id="{1964E8B4-067B-FEF3-9397-9DCE439B0D08}" v="1807" dt="2026-02-18T17:11:09.924"/>
    <p1510:client id="{2DB0EAA1-2005-5F9F-6347-C1DF65A6DAE7}" v="105" dt="2026-02-18T21:29:06.930"/>
    <p1510:client id="{8EA8A882-F55B-8B04-B09A-0AE3F389B57D}" v="2" dt="2026-02-19T13:01:03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3C8F1-C5B0-BB40-AE48-4D0A5406F3F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06779-6CDC-AA48-A8AF-0A753F8DC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185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Rachel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9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Rachel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10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Rachel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52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Rachel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15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Emily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covers over two and a half years of market activity, with observations every 30 minutes across all major electricity auctions.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depth allows us to capture seasonality and underlying structural market behavior – which is essential for training a predictive model.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modelling, we enforced strict chronological ordering, aligned trading days with auction gate closures, and removed incomplete records prior to April 2023.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ensures the model reflects real trading conditions.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07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Emily </a:t>
            </a:r>
          </a:p>
          <a:p>
            <a:endParaRPr lang="en-US"/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step was selecting the most commercially viable spread.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spread between the Day Ahead Market and Intraday Auction 1 has a small positive average, indicating structural arbitrage opportunity, but with meaningful volatility.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tells us that while opportunity exists,  disciplined risk management is essential.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contrast, the spread between Intraday Auctions 2 and 3 has a negative mean and greater dispersion, making it less stable and harder to predict.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we focus on DAM-IDA1 spread as the more attractive risk-reward profile.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26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Emily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examine how the spread behaves over time.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left graph shows that certain intraday periods show relatively stable spreads, while others exhibit larger dispersion. 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weekly profile on the right indicates that spread behavior varies across days rather than remaining uniform.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Importantly, this shows that arbitrage behavior is systematic rather than random – but capturing it requires disciplined, data-driven execution.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85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Emily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capture these arbitrage opportunities, we transformed raw operational data into economically meaningful trading signals.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key feature is Net Demand, which captures the balance between electricity demand and renewable generation.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net demand is high, the system is under supply pressure, which tends to increase price.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average wind forecasts across providers to reduce noise and improve signal stability.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addition, aggregate plant outages to capture supply constraints.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 features used in the model. The bar chart shows the 5 most important features for modelling.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Together, these features capture some of the fundamental drivers of electricity price formation.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Emily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illustrate the impact the engineered features, we examine the relationship between net demand and DAM-IDA1 spread.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overall linear correlation between net demand and spread is small, dispersion increases significantly at extreme imbalance levels.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suggests spread behavior is regime dependent rather than purely linear.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insight motivates the use of non-linear modelling techniques.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49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Aditi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48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38D7-BFF3-586E-C840-624CA755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7F53C-2646-CDD8-F326-F101F0CCF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AAAD6-0CB8-E92E-D076-FFCF7B6ED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Aditi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56547-E354-1DE3-D2E4-C6A4C0F51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89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Aditi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76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E468-F01A-2B36-258D-7B85410F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3C480-5CF4-7541-7F76-3E175CD85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65BEC-D01B-5AC5-6155-CFB13113B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Aditi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74135-26B0-224C-7703-AD21BB1E0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35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Aditi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70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25836-D82C-0D46-A3B6-5E28C8CD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49A8B-77F4-E004-E3F3-D42D02B4B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81AB7-89B1-7B12-AE35-0FADADFFA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Aditi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680A3-39DC-6773-BECC-BF98E6AA0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06779-6CDC-AA48-A8AF-0A753F8DC4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1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032D-3AC7-5432-52CA-ECB53A2A2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C4C9D-D04F-8629-2E34-135B96741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16BFC-FFE8-E3AE-1B22-C433007C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1773E-5701-A4C2-C4F7-28521B8C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BA1E0-F367-4B2C-FB3F-3713238E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52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76F4-8DA0-8395-E0DB-A48BA31F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2E332-5E0B-9F10-498F-E65B2FEDB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9BB8A-6986-691B-2715-C66ABC8C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8C7C6-C1DE-628B-2CAC-B638E4DD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84F49-93B5-355E-150B-9168E8A6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3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C850E-D04C-7FD1-4665-3672A9483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B6933-C9A4-4570-7EB2-609CAA9ED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61E78-1B79-74B1-B8D6-3A4CD509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ADB1A-455A-B7E9-89D4-1D6A8DF7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63619-B1DC-BCC3-D4A6-53ABDA84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0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8E0A-BA8E-6670-FA6A-725FC0AF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1088E-450F-A41D-4D96-FD7255F46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39C2D-7B2F-9636-7FE4-775F9FF1A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98098-D97D-A40C-F756-C89DE7459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583A9-F8FA-DFAD-8931-21D695BB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B6C8C-9EC8-5190-76BC-24214BA8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5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1D2C6-9F66-9F34-22D2-49ABEAAC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FEB85-CADA-D536-AD8E-205A62E56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02B10-13FA-28AE-AE55-D0C5F63A9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44D15-A625-876E-F783-2C944D45F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BC4C2-74FC-FA2B-DA0E-EF025B6AA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08552-0F82-0103-8902-5DEBAB6C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49E98-59D4-AFD3-17CF-C1290ABF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83B29-8D45-A40B-B649-8E04B225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09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69F2-A933-1317-B5E8-67CCCBBD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2B25C2-2430-4563-49D0-73AFAB272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FB7FC-E104-9617-01AD-28DDBB214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2154F-5EB0-A246-5F72-7D3378B4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0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96198-FF51-11B2-C78E-C5A6357F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F23B1-5F7C-ED0C-6768-AEB4A68F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BBB20-DB97-1380-4BC5-35FD73F6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37F6A-9E01-E14A-8EC9-8931BAD9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849B1-E9A6-7C3F-71B6-9CE3F5311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4B164-DD09-2FD2-9056-556798829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FCA5E-E00F-ADAB-C012-391A18ED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5599A-83EA-B50B-191A-A1B4476A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93A1F-D35B-F29A-4805-7D1259BC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C281-84F1-B8C7-C479-1440202B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0DC94-71C3-10E3-04DA-C310D4C09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4DA27-6322-06A1-65E0-AA0662502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2C06C-FB27-4E28-7DDE-144348164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6FF8B-D80A-7298-3FED-060B11BC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D40AD-BE84-7F3A-1142-FC7B7355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1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DC50-C9D9-D605-E5CD-41F16067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84C03-30ED-E822-F40B-0B85AF799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6A1EA-FEAA-F5EA-BEFC-B58700B4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12E31-80B9-001E-55BA-EC51C76B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7EFE2-411A-1547-3BE9-CF69609A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1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8E137-EC60-5B4B-AE4E-1DC15EDAC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A6B69-D9E3-CBE6-B45F-5347A9DEC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82B81-6795-C019-3891-2E8337B45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97EE-E3DC-E6AF-94CB-53A4F3B6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32EDB-4DFC-664D-0447-3DBDA0E1E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3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879D9-2441-5A8F-BE3C-AF2A9255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ADEA5-A58C-FF52-F027-9C4050688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BA321-53BE-37B6-7D0E-CF15B70D5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08801-E758-BB4F-AF60-74CF694C46C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27927-85BE-435B-8360-75378814E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FCF77-766D-F27D-0810-53105830A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77E31-83C8-0F4A-941F-AB3BAFF6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4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32495F0-C5CB-4823-AE70-EED61EBA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52920-B096-10D9-9DC1-6F7A4C50C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183" y="1143000"/>
            <a:ext cx="4846320" cy="2898648"/>
          </a:xfrm>
        </p:spPr>
        <p:txBody>
          <a:bodyPr>
            <a:normAutofit/>
          </a:bodyPr>
          <a:lstStyle/>
          <a:p>
            <a:pPr algn="l"/>
            <a:r>
              <a:rPr lang="en-US" sz="5000"/>
              <a:t>Analytics in Action: Energy Arbitrage Trading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E2B68-1A8A-7901-0A08-1B2AB0BC2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7570" y="4407408"/>
            <a:ext cx="4821740" cy="17856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/>
              <a:t>Rachel Naveena Embate Joshua</a:t>
            </a:r>
          </a:p>
          <a:p>
            <a:pPr algn="l"/>
            <a:r>
              <a:rPr lang="en-US" sz="2000"/>
              <a:t>Emily Foreman</a:t>
            </a:r>
            <a:endParaRPr lang="en-US"/>
          </a:p>
          <a:p>
            <a:pPr algn="l"/>
            <a:r>
              <a:rPr lang="en-US" sz="2000"/>
              <a:t>Bindu </a:t>
            </a:r>
            <a:r>
              <a:rPr lang="en-US" sz="2000" err="1"/>
              <a:t>Gangadharaiah</a:t>
            </a:r>
          </a:p>
          <a:p>
            <a:pPr algn="l"/>
            <a:r>
              <a:rPr lang="en-US" sz="2000"/>
              <a:t>Aditi Sharma</a:t>
            </a:r>
          </a:p>
          <a:p>
            <a:pPr algn="l"/>
            <a:endParaRPr lang="en-US" sz="2000"/>
          </a:p>
          <a:p>
            <a:pPr algn="l"/>
            <a:endParaRPr lang="en-US" sz="2000"/>
          </a:p>
          <a:p>
            <a:pPr algn="l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8B9C25-D80D-48EC-B83A-231219A8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 descr="Energia Logo | Irish Loyalty Awards">
            <a:extLst>
              <a:ext uri="{FF2B5EF4-FFF2-40B4-BE49-F238E27FC236}">
                <a16:creationId xmlns:a16="http://schemas.microsoft.com/office/drawing/2014/main" id="{0B13CA7D-52C1-9B1C-3204-9D07FA749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956" y="861718"/>
            <a:ext cx="5441001" cy="180434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01CC70B-8875-45A1-8AFD-7D546E3C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queens-university-belfast-logo – Usfolk">
            <a:extLst>
              <a:ext uri="{FF2B5EF4-FFF2-40B4-BE49-F238E27FC236}">
                <a16:creationId xmlns:a16="http://schemas.microsoft.com/office/drawing/2014/main" id="{78BFC8B2-6D02-84B0-410A-F442442BC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526" y="3522180"/>
            <a:ext cx="3143861" cy="31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7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DD99-8FB4-3084-466F-52472DC9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69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</a:rPr>
              <a:t>Energia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2E98-717D-40FF-F45E-6F0566C66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291"/>
            <a:ext cx="10515600" cy="481867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/>
              <a:t>Energia’s Role in the Irish Energy Market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Supplies ~17% of the island of Ireland’s total electricity demand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Delivers ~20% of total wind power generation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Serves </a:t>
            </a:r>
            <a:r>
              <a:rPr lang="en-US" sz="1900" b="1">
                <a:ea typeface="+mn-lt"/>
                <a:cs typeface="+mn-lt"/>
              </a:rPr>
              <a:t>800,000</a:t>
            </a:r>
            <a:r>
              <a:rPr lang="en-US" sz="1900">
                <a:ea typeface="+mn-lt"/>
                <a:cs typeface="+mn-lt"/>
              </a:rPr>
              <a:t> homes and businesses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Operates through Energia and Power NI retail brands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Vision: Be a force for change toward greener, cleaner, smarter energy</a:t>
            </a:r>
          </a:p>
          <a:p>
            <a:pPr marL="457200" lvl="1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Strategic</a:t>
            </a:r>
            <a:r>
              <a:rPr lang="en-US" b="1"/>
              <a:t> Implications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Large market share → Significant exposure to wholesale price movements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High renewable penetration → Increased generation variability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Competitive retail market → Strong pressure on margin </a:t>
            </a:r>
            <a:r>
              <a:rPr lang="en-US" sz="2000" err="1">
                <a:ea typeface="+mn-lt"/>
                <a:cs typeface="+mn-lt"/>
              </a:rPr>
              <a:t>optimisation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Sustainability ambition → Need for smarter trading and technology-driven decisions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Energia’s scale, renewable portfolio, and retail exposure make efficient and intelligent market trading strategically critical.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649B-7671-D7B3-78C5-12F0D1AD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C00000"/>
                </a:solidFill>
                <a:ea typeface="+mj-lt"/>
                <a:cs typeface="+mj-lt"/>
              </a:rPr>
              <a:t>Project Focus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EDC37-A826-F7FB-0FD4-58C5F4181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40"/>
            <a:ext cx="10515600" cy="466702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>
                <a:ea typeface="+mn-lt"/>
                <a:cs typeface="+mn-lt"/>
              </a:rPr>
              <a:t>Energia operates in volatile wholesale electricity markets where:</a:t>
            </a: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>
                <a:ea typeface="+mn-lt"/>
                <a:cs typeface="+mn-lt"/>
              </a:rPr>
              <a:t>Prices fluctuate significantly between trading windows</a:t>
            </a: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>
                <a:ea typeface="+mn-lt"/>
                <a:cs typeface="+mn-lt"/>
              </a:rPr>
              <a:t>Renewable generation increases unpredictability</a:t>
            </a: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>
                <a:ea typeface="+mn-lt"/>
                <a:cs typeface="+mn-lt"/>
              </a:rPr>
              <a:t>Market inefficiencies create short-lived arbitrage opportunities</a:t>
            </a: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>
                <a:ea typeface="+mn-lt"/>
                <a:cs typeface="+mn-lt"/>
              </a:rPr>
              <a:t>Poor timing increases exposure volatility and erodes margins</a:t>
            </a:r>
          </a:p>
          <a:p>
            <a:pPr marL="0" indent="0">
              <a:buNone/>
            </a:pPr>
            <a:endParaRPr lang="en-GB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To protect profitability while remaining competitive, trading strategies must be both </a:t>
            </a:r>
            <a:r>
              <a:rPr lang="en-GB" b="1">
                <a:ea typeface="+mn-lt"/>
                <a:cs typeface="+mn-lt"/>
              </a:rPr>
              <a:t>accurate and risk-aware</a:t>
            </a:r>
            <a:r>
              <a:rPr lang="en-GB">
                <a:ea typeface="+mn-lt"/>
                <a:cs typeface="+mn-lt"/>
              </a:rPr>
              <a:t>.</a:t>
            </a:r>
            <a:endParaRPr lang="en-GB"/>
          </a:p>
          <a:p>
            <a:pPr marL="0" indent="0">
              <a:buNone/>
            </a:pPr>
            <a:endParaRPr lang="en-GB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This project investigates the </a:t>
            </a:r>
            <a:r>
              <a:rPr lang="en-GB" b="1">
                <a:ea typeface="+mn-lt"/>
                <a:cs typeface="+mn-lt"/>
              </a:rPr>
              <a:t>profitability and risk profile of arbitrage trading between the Day-Ahead Market and IDA1</a:t>
            </a:r>
            <a:r>
              <a:rPr lang="en-GB">
                <a:ea typeface="+mn-lt"/>
                <a:cs typeface="+mn-lt"/>
              </a:rPr>
              <a:t>, evaluating:</a:t>
            </a:r>
            <a:endParaRPr lang="en-GB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Profit and loss performance</a:t>
            </a:r>
            <a:endParaRPr lang="en-GB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Exposure volatility</a:t>
            </a:r>
            <a:endParaRPr lang="en-GB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Strategic trading efficiency</a:t>
            </a:r>
            <a:endParaRPr lang="en-GB"/>
          </a:p>
          <a:p>
            <a:pPr>
              <a:buFont typeface="Arial" panose="020B0604020202020204" pitchFamily="34" charset="0"/>
              <a:buChar char="•"/>
            </a:pPr>
            <a:endParaRPr lang="en-GB"/>
          </a:p>
          <a:p>
            <a:pPr>
              <a:buFont typeface="Arial" panose="020B0604020202020204" pitchFamily="34" charset="0"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16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4967-B491-FE2F-7734-96068238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The Market Opportunity – Energy Arbitrage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4B6A-AB21-BB20-7B36-7FDDFAF37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682"/>
            <a:ext cx="10515600" cy="49101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What is Arbitrage Trading?</a:t>
            </a:r>
            <a:endParaRPr lang="en-US" sz="2600"/>
          </a:p>
          <a:p>
            <a:pPr lvl="1"/>
            <a:r>
              <a:rPr lang="en-US" sz="1800">
                <a:ea typeface="+mn-lt"/>
                <a:cs typeface="+mn-lt"/>
              </a:rPr>
              <a:t>Buying power at a lower price in one market and selling it at a higher price in another market</a:t>
            </a:r>
          </a:p>
          <a:p>
            <a:pPr marL="457200" lvl="1" indent="0">
              <a:buNone/>
            </a:pPr>
            <a:endParaRPr 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Overview</a:t>
            </a:r>
            <a:r>
              <a:rPr lang="en-US" sz="2600"/>
              <a:t> of </a:t>
            </a:r>
            <a:r>
              <a:rPr lang="en-US" sz="2600" b="1"/>
              <a:t>ISEM </a:t>
            </a:r>
            <a:r>
              <a:rPr lang="en-US" sz="2600"/>
              <a:t>Markets</a:t>
            </a:r>
            <a:endParaRPr lang="en-US" sz="1800"/>
          </a:p>
          <a:p>
            <a:pPr lvl="1"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DAM </a:t>
            </a:r>
            <a:r>
              <a:rPr lang="en-US" sz="1800">
                <a:ea typeface="+mn-lt"/>
                <a:cs typeface="+mn-lt"/>
              </a:rPr>
              <a:t>(Day-Ahead Market) – Main reference price, traded the day before delivery</a:t>
            </a:r>
            <a:endParaRPr lang="en-US" sz="1800"/>
          </a:p>
          <a:p>
            <a:pPr lvl="1"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IDA </a:t>
            </a:r>
            <a:r>
              <a:rPr lang="en-US" sz="1800">
                <a:ea typeface="+mn-lt"/>
                <a:cs typeface="+mn-lt"/>
              </a:rPr>
              <a:t>(Intraday Auctions) – Multiple re-pricing opportunities closer to real time</a:t>
            </a:r>
            <a:endParaRPr lang="en-US" sz="1800"/>
          </a:p>
          <a:p>
            <a:pPr lvl="1">
              <a:buFont typeface="Arial"/>
              <a:buChar char="•"/>
            </a:pPr>
            <a:r>
              <a:rPr lang="en-US" sz="1800" b="1">
                <a:ea typeface="+mn-lt"/>
                <a:cs typeface="+mn-lt"/>
              </a:rPr>
              <a:t>BM </a:t>
            </a:r>
            <a:r>
              <a:rPr lang="en-US" sz="1800">
                <a:ea typeface="+mn-lt"/>
                <a:cs typeface="+mn-lt"/>
              </a:rPr>
              <a:t>(Balancing Market) – Final adjustments near real time</a:t>
            </a:r>
            <a:endParaRPr lang="en-US" sz="1800"/>
          </a:p>
          <a:p>
            <a:pPr indent="0">
              <a:buNone/>
            </a:pPr>
            <a:r>
              <a:rPr lang="en-US" sz="1800">
                <a:ea typeface="+mn-lt"/>
                <a:cs typeface="+mn-lt"/>
              </a:rPr>
              <a:t>Each auction can clear at a different price for the same delivery period.</a:t>
            </a:r>
            <a:endParaRPr lang="en-US" sz="1800"/>
          </a:p>
          <a:p>
            <a:pPr>
              <a:buNone/>
            </a:pPr>
            <a:r>
              <a:rPr lang="en-US" sz="2600"/>
              <a:t>Gate Closure, Timing &amp; Forecasting</a:t>
            </a: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Each market has a strict gate closure time after which positions cannot be changed.   Missing it means lost arbitrage opportunities or exposure to imbalance risk.</a:t>
            </a:r>
            <a:endParaRPr lang="en-US" sz="1800"/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Profits depend on accurately forecasting prices, wind, demand and interconnector flows ahead of each auction.   Because spreads are small, precise timing and disciplined execution are essential to protect margin.</a:t>
            </a:r>
            <a:endParaRPr lang="en-US" sz="1800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23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DC15-9B21-5E6A-7437-2099660C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F8BF1-0224-D14F-AF5A-19F63701A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Short-term power prices in different markets are volatile and driven by weather, demand, and outages.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Traders exploit </a:t>
            </a:r>
            <a:r>
              <a:rPr lang="en-US" sz="2000" b="1">
                <a:ea typeface="+mn-lt"/>
                <a:cs typeface="+mn-lt"/>
              </a:rPr>
              <a:t>spreads</a:t>
            </a:r>
            <a:r>
              <a:rPr lang="en-US" sz="2000">
                <a:ea typeface="+mn-lt"/>
                <a:cs typeface="+mn-lt"/>
              </a:rPr>
              <a:t> between markets to lock in margin but face forecast and execution risk.</a:t>
            </a:r>
            <a:endParaRPr lang="en-US" sz="2000"/>
          </a:p>
          <a:p>
            <a:r>
              <a:rPr lang="en-US" sz="2000"/>
              <a:t>Predict direction or spread between two markets</a:t>
            </a:r>
          </a:p>
          <a:p>
            <a:r>
              <a:rPr lang="en-US" sz="2000"/>
              <a:t>Must use only information available at time of trading</a:t>
            </a:r>
          </a:p>
          <a:p>
            <a:r>
              <a:rPr lang="en-US" sz="2000"/>
              <a:t>Cannot shuffle time series data</a:t>
            </a:r>
          </a:p>
          <a:p>
            <a:r>
              <a:rPr lang="en-US" sz="2000"/>
              <a:t>Final key performance indicator: €/MWh profit</a:t>
            </a:r>
          </a:p>
          <a:p>
            <a:r>
              <a:rPr lang="en-US" sz="2000">
                <a:ea typeface="+mn-lt"/>
                <a:cs typeface="+mn-lt"/>
              </a:rPr>
              <a:t>A data‑driven spread strategy can turn raw market and forecast data into </a:t>
            </a:r>
            <a:r>
              <a:rPr lang="en-US" sz="2000" b="1">
                <a:ea typeface="+mn-lt"/>
                <a:cs typeface="+mn-lt"/>
              </a:rPr>
              <a:t>systematic trading decisions</a:t>
            </a:r>
            <a:r>
              <a:rPr lang="en-US" sz="2000">
                <a:ea typeface="+mn-lt"/>
                <a:cs typeface="+mn-lt"/>
              </a:rPr>
              <a:t> instead of ad‑hoc judgment</a:t>
            </a: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46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06EB-3B4D-B717-3B52-A7AFBFA95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13BFF-7E4E-FA16-4F72-4EA3D34F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/>
              <a:t>2.5+ years of auction data across all major ISEM markets</a:t>
            </a:r>
          </a:p>
          <a:p>
            <a:r>
              <a:rPr lang="en-US" sz="2600"/>
              <a:t>Captures seasonality, volatility cycles and structural market behavior</a:t>
            </a:r>
          </a:p>
          <a:p>
            <a:r>
              <a:rPr lang="en-US" sz="2600"/>
              <a:t>Data Integrity</a:t>
            </a:r>
          </a:p>
          <a:p>
            <a:pPr lvl="1"/>
            <a:r>
              <a:rPr lang="en-US" sz="1800"/>
              <a:t>Strict 30-minute chronological ordering</a:t>
            </a:r>
          </a:p>
          <a:p>
            <a:pPr lvl="1"/>
            <a:r>
              <a:rPr lang="en-US" sz="1800"/>
              <a:t>Trade Date aligned to auction gate closure rules</a:t>
            </a:r>
          </a:p>
          <a:p>
            <a:pPr lvl="1"/>
            <a:r>
              <a:rPr lang="en-US" sz="1800"/>
              <a:t>Removed incomplete outage data prior to April 2023</a:t>
            </a:r>
          </a:p>
          <a:p>
            <a:pPr marL="457200" lvl="1" indent="0">
              <a:buNone/>
            </a:pPr>
            <a:endParaRPr lang="en-US" sz="2800"/>
          </a:p>
          <a:p>
            <a:endParaRPr lang="en-US"/>
          </a:p>
          <a:p>
            <a:pPr marL="457200" lvl="1" indent="0">
              <a:buNone/>
            </a:pPr>
            <a:endParaRPr lang="en-US" sz="28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3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BA00-DB5E-51C6-8F35-9529089E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Choice of Market Spread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A239-E0DE-E95B-1427-FA09FC0E5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/>
              <a:t>DAM – IDA1 offers a more stable risk reward profile than IDA2 - IDA3</a:t>
            </a:r>
          </a:p>
        </p:txBody>
      </p:sp>
      <p:pic>
        <p:nvPicPr>
          <p:cNvPr id="6" name="Picture 5" descr="A comparison of a distribution diagram with Eiffel Tower in the background&#10;&#10;AI-generated content may be incorrect.">
            <a:extLst>
              <a:ext uri="{FF2B5EF4-FFF2-40B4-BE49-F238E27FC236}">
                <a16:creationId xmlns:a16="http://schemas.microsoft.com/office/drawing/2014/main" id="{CFE1034B-396D-3FA3-BAD6-8A917924B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212" y="2205318"/>
            <a:ext cx="6203576" cy="46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10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F3B4-6726-6497-CE21-9AB8C82A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Market Behavior Over Time</a:t>
            </a:r>
          </a:p>
        </p:txBody>
      </p:sp>
      <p:pic>
        <p:nvPicPr>
          <p:cNvPr id="5" name="Content Placeholder 4" descr="A graph of a wave&#10;&#10;AI-generated content may be incorrect.">
            <a:extLst>
              <a:ext uri="{FF2B5EF4-FFF2-40B4-BE49-F238E27FC236}">
                <a16:creationId xmlns:a16="http://schemas.microsoft.com/office/drawing/2014/main" id="{3F52DDE5-4773-1544-6638-2F18ACCF4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49604"/>
          <a:stretch>
            <a:fillRect/>
          </a:stretch>
        </p:blipFill>
        <p:spPr>
          <a:xfrm>
            <a:off x="-9655" y="3102404"/>
            <a:ext cx="6100828" cy="3074559"/>
          </a:xfrm>
        </p:spPr>
      </p:pic>
      <p:pic>
        <p:nvPicPr>
          <p:cNvPr id="7" name="Picture 6" descr="A graph of a wave&#10;&#10;AI-generated content may be incorrect.">
            <a:extLst>
              <a:ext uri="{FF2B5EF4-FFF2-40B4-BE49-F238E27FC236}">
                <a16:creationId xmlns:a16="http://schemas.microsoft.com/office/drawing/2014/main" id="{E5481204-BB74-DDA8-090B-8F73847B4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47" t="50000"/>
          <a:stretch>
            <a:fillRect/>
          </a:stretch>
        </p:blipFill>
        <p:spPr>
          <a:xfrm>
            <a:off x="6110486" y="3141917"/>
            <a:ext cx="6091169" cy="303504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D43BBB9-DF63-207E-3DCF-3C0790D4E46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/>
              <a:t>Market spread has a periodic frequency that reflect auction timing</a:t>
            </a:r>
          </a:p>
          <a:p>
            <a:r>
              <a:rPr lang="en-US" sz="2600"/>
              <a:t>Some trading periods show stronger arbitrage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493352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0AFD-CD90-4908-9F74-0BC75324B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144050"/>
            <a:ext cx="11122568" cy="160020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C00000"/>
                </a:solidFill>
              </a:rPr>
              <a:t>Feature Engineering – Turning Data into Signals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83E94D-9F99-FDCE-F0DA-5F7FACB6B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25624"/>
            <a:ext cx="5055796" cy="3811588"/>
          </a:xfrm>
        </p:spPr>
        <p:txBody>
          <a:bodyPr>
            <a:noAutofit/>
          </a:bodyPr>
          <a:lstStyle/>
          <a:p>
            <a:r>
              <a:rPr lang="en-US" sz="2600" b="1" i="1"/>
              <a:t>Net Demand </a:t>
            </a:r>
            <a:r>
              <a:rPr lang="en-US" sz="2600"/>
              <a:t>= Demand – Wind</a:t>
            </a:r>
          </a:p>
          <a:p>
            <a:endParaRPr lang="en-US" sz="1200"/>
          </a:p>
          <a:p>
            <a:r>
              <a:rPr lang="en-US" sz="2600" b="1" i="1"/>
              <a:t>Average Wind Forecast </a:t>
            </a:r>
            <a:r>
              <a:rPr lang="en-US" sz="2600"/>
              <a:t> to reduce noise</a:t>
            </a:r>
            <a:endParaRPr lang="en-US" sz="2600" b="1" i="1"/>
          </a:p>
          <a:p>
            <a:endParaRPr lang="en-US" sz="1200"/>
          </a:p>
          <a:p>
            <a:r>
              <a:rPr lang="en-GB" sz="2600" b="1" i="1"/>
              <a:t>Total Plant Outages</a:t>
            </a:r>
            <a:r>
              <a:rPr lang="en-GB" sz="2600"/>
              <a:t> since reduced generation capacity increases price volatility and arbitrage opportunities</a:t>
            </a:r>
            <a:endParaRPr lang="en-US" sz="2600" b="1" i="1"/>
          </a:p>
          <a:p>
            <a:endParaRPr lang="en-US" sz="2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0940D-0A04-115E-4673-466D779C6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376" y="1966501"/>
            <a:ext cx="5883058" cy="352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19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68AA-3A8F-CE92-5B1B-2A8F7F1AE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Market Spread and Net Demand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0F72-D16A-C0CA-B347-0AC2E485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/>
              <a:t>The spread becomes non-linear at extreme values of Net Demand</a:t>
            </a:r>
          </a:p>
          <a:p>
            <a:r>
              <a:rPr lang="en-US" sz="2600"/>
              <a:t>This supports the use of non-linear modelling techniques</a:t>
            </a:r>
          </a:p>
        </p:txBody>
      </p:sp>
      <p:pic>
        <p:nvPicPr>
          <p:cNvPr id="4" name="Content Placeholder 8" descr="A graph showing a line&#10;&#10;AI-generated content may be incorrect.">
            <a:extLst>
              <a:ext uri="{FF2B5EF4-FFF2-40B4-BE49-F238E27FC236}">
                <a16:creationId xmlns:a16="http://schemas.microsoft.com/office/drawing/2014/main" id="{CE670E1B-45C5-30FD-DDBF-82D590003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131" y="2701131"/>
            <a:ext cx="8313738" cy="415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3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1E7F-A01D-2283-95CB-FDA75D14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Modelling Approach: Framework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8D24-E4F4-19CF-AF95-848386FB2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3"/>
            <a:ext cx="10515600" cy="58753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>
              <a:ea typeface="+mn-lt"/>
              <a:cs typeface="+mn-lt"/>
            </a:endParaRPr>
          </a:p>
          <a:p>
            <a:pPr marL="228600" lvl="1"/>
            <a:r>
              <a:rPr lang="en-US" sz="2200">
                <a:latin typeface="Aptos Display"/>
                <a:ea typeface="+mn-lt"/>
                <a:cs typeface="+mn-lt"/>
              </a:rPr>
              <a:t>Why Classification?</a:t>
            </a:r>
          </a:p>
          <a:p>
            <a:pPr lvl="1"/>
            <a:r>
              <a:rPr lang="en-US" sz="2200">
                <a:latin typeface="Aptos Display"/>
                <a:ea typeface="+mn-lt"/>
                <a:cs typeface="+mn-lt"/>
              </a:rPr>
              <a:t>Direction matters more than precision in energy trading</a:t>
            </a:r>
          </a:p>
          <a:p>
            <a:pPr lvl="1"/>
            <a:r>
              <a:rPr lang="en-US" sz="2200">
                <a:latin typeface="Aptos Display"/>
                <a:ea typeface="+mn-lt"/>
                <a:cs typeface="+mn-lt"/>
              </a:rPr>
              <a:t>Predicts UP vs DOWN (not exact €/MWh values)</a:t>
            </a:r>
          </a:p>
          <a:p>
            <a:pPr lvl="1"/>
            <a:r>
              <a:rPr lang="en-US" sz="2200">
                <a:latin typeface="Aptos Display"/>
                <a:ea typeface="+mn-lt"/>
                <a:cs typeface="+mn-lt"/>
              </a:rPr>
              <a:t>Probability outputs enable risk-based decision making</a:t>
            </a:r>
          </a:p>
          <a:p>
            <a:r>
              <a:rPr lang="en-US" sz="2200">
                <a:latin typeface="Aptos Display"/>
                <a:ea typeface="+mn-lt"/>
                <a:cs typeface="+mn-lt"/>
              </a:rPr>
              <a:t>Binary Classification Framework</a:t>
            </a:r>
            <a:endParaRPr lang="en-US" sz="2200">
              <a:latin typeface="Aptos Display"/>
            </a:endParaRPr>
          </a:p>
          <a:p>
            <a:pPr lvl="1"/>
            <a:r>
              <a:rPr lang="en-US" sz="2200">
                <a:latin typeface="Aptos Display"/>
                <a:ea typeface="+mn-lt"/>
                <a:cs typeface="+mn-lt"/>
              </a:rPr>
              <a:t>Binary classification on DAM and IDA1 price spread direction (up/down)</a:t>
            </a:r>
            <a:endParaRPr lang="en-US" sz="2200">
              <a:latin typeface="Aptos Display"/>
            </a:endParaRPr>
          </a:p>
          <a:p>
            <a:pPr lvl="1"/>
            <a:r>
              <a:rPr lang="en-US" sz="2200">
                <a:latin typeface="Aptos Display"/>
                <a:ea typeface="+mn-lt"/>
                <a:cs typeface="+mn-lt"/>
              </a:rPr>
              <a:t>The decision is taken based on an engineered binary variable showing trading direction</a:t>
            </a:r>
          </a:p>
          <a:p>
            <a:pPr lvl="1"/>
            <a:endParaRPr lang="en-US" sz="2200">
              <a:latin typeface="Aptos Display"/>
              <a:ea typeface="+mn-lt"/>
              <a:cs typeface="+mn-lt"/>
            </a:endParaRPr>
          </a:p>
          <a:p>
            <a:pPr marL="228600" lvl="1" indent="-171450"/>
            <a:r>
              <a:rPr lang="en-US" sz="2200">
                <a:latin typeface="Aptos Display"/>
                <a:ea typeface="+mn-lt"/>
                <a:cs typeface="+mn-lt"/>
              </a:rPr>
              <a:t>Time-Series Data Integrity</a:t>
            </a:r>
          </a:p>
          <a:p>
            <a:pPr marL="685800"/>
            <a:r>
              <a:rPr lang="en-US" sz="2200">
                <a:latin typeface="Aptos Display"/>
                <a:ea typeface="+mn-lt"/>
                <a:cs typeface="+mn-lt"/>
              </a:rPr>
              <a:t>30-minute intervals, chronologically ordered</a:t>
            </a:r>
          </a:p>
          <a:p>
            <a:pPr lvl="1"/>
            <a:r>
              <a:rPr lang="en-US" sz="2200">
                <a:latin typeface="Aptos Display"/>
                <a:ea typeface="+mn-lt"/>
                <a:cs typeface="+mn-lt"/>
              </a:rPr>
              <a:t>Splits (no shuffling): Train data: 60% (~30k rows) , Validation data: 20% (~10k rows),  Test data: 20% (~10k rows)</a:t>
            </a:r>
          </a:p>
          <a:p>
            <a:pPr lvl="1"/>
            <a:r>
              <a:rPr lang="en-US" sz="2200">
                <a:latin typeface="Aptos Display"/>
                <a:ea typeface="+mn-lt"/>
                <a:cs typeface="+mn-lt"/>
              </a:rPr>
              <a:t>No leakage: Only uses data available at DAM gate closure</a:t>
            </a:r>
          </a:p>
          <a:p>
            <a:pPr marL="457200" lvl="2" indent="0">
              <a:buNone/>
            </a:pPr>
            <a:br>
              <a:rPr lang="en-US"/>
            </a:br>
            <a:endParaRPr lang="en-US"/>
          </a:p>
          <a:p>
            <a:pPr marL="228600" lvl="1"/>
            <a:endParaRPr lang="en-US" sz="1800"/>
          </a:p>
          <a:p>
            <a:pPr marL="228600"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51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9627B-8AC6-93CF-D170-F153EBF6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208E-E4FF-6649-AF17-315C6986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6" y="391630"/>
            <a:ext cx="10727634" cy="110027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>
                <a:solidFill>
                  <a:srgbClr val="C00000"/>
                </a:solidFill>
              </a:rPr>
              <a:t>Modelling </a:t>
            </a:r>
            <a:r>
              <a:rPr lang="en-US" sz="4000">
                <a:solidFill>
                  <a:srgbClr val="C00000"/>
                </a:solidFill>
              </a:rPr>
              <a:t>Approach</a:t>
            </a:r>
            <a:r>
              <a:rPr lang="en-US">
                <a:solidFill>
                  <a:srgbClr val="C00000"/>
                </a:solidFill>
              </a:rPr>
              <a:t>: </a:t>
            </a:r>
            <a:r>
              <a:rPr lang="en-US" sz="4000">
                <a:solidFill>
                  <a:srgbClr val="C00000"/>
                </a:solidFill>
              </a:rPr>
              <a:t>Systematic Model Evaluation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81D11-7055-C3B5-0D8B-C62C1EF1A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352"/>
            <a:ext cx="10515600" cy="44705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80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>
                <a:latin typeface="Aptos Display"/>
                <a:ea typeface="+mn-lt"/>
                <a:cs typeface="+mn-lt"/>
              </a:rPr>
              <a:t>Ensemble Approach</a:t>
            </a:r>
          </a:p>
          <a:p>
            <a:pPr marL="628650" lvl="1" indent="-400050">
              <a:buFont typeface="Arial"/>
            </a:pPr>
            <a:r>
              <a:rPr lang="en-US" sz="2200" err="1">
                <a:latin typeface="Aptos Display"/>
                <a:ea typeface="+mn-lt"/>
                <a:cs typeface="+mn-lt"/>
              </a:rPr>
              <a:t>RandomForest</a:t>
            </a:r>
            <a:r>
              <a:rPr lang="en-US" sz="2200">
                <a:latin typeface="Aptos Display"/>
                <a:ea typeface="+mn-lt"/>
                <a:cs typeface="+mn-lt"/>
              </a:rPr>
              <a:t>: Handles non-linear patterns</a:t>
            </a:r>
          </a:p>
          <a:p>
            <a:pPr marL="628650" lvl="1" indent="-400050">
              <a:buFont typeface="Arial"/>
            </a:pPr>
            <a:r>
              <a:rPr lang="en-US" sz="2200" err="1">
                <a:latin typeface="Aptos Display"/>
                <a:ea typeface="+mn-lt"/>
                <a:cs typeface="+mn-lt"/>
              </a:rPr>
              <a:t>CatBoost</a:t>
            </a:r>
            <a:r>
              <a:rPr lang="en-US" sz="2200">
                <a:latin typeface="Aptos Display"/>
                <a:ea typeface="+mn-lt"/>
                <a:cs typeface="+mn-lt"/>
              </a:rPr>
              <a:t>: Optimized for categorical features</a:t>
            </a:r>
          </a:p>
          <a:p>
            <a:pPr marL="628650" lvl="1" indent="-400050">
              <a:buFont typeface="Arial"/>
            </a:pPr>
            <a:r>
              <a:rPr lang="en-US" sz="2200">
                <a:latin typeface="Aptos Display"/>
                <a:ea typeface="+mn-lt"/>
                <a:cs typeface="+mn-lt"/>
              </a:rPr>
              <a:t>Combined via Stacking Ensemble (</a:t>
            </a:r>
            <a:r>
              <a:rPr lang="en-US" sz="2200" err="1">
                <a:latin typeface="Aptos Display"/>
                <a:ea typeface="+mn-lt"/>
                <a:cs typeface="+mn-lt"/>
              </a:rPr>
              <a:t>LogisticRegression</a:t>
            </a:r>
            <a:r>
              <a:rPr lang="en-US" sz="2200">
                <a:latin typeface="Aptos Display"/>
                <a:ea typeface="+mn-lt"/>
                <a:cs typeface="+mn-lt"/>
              </a:rPr>
              <a:t> meta-learner)</a:t>
            </a:r>
          </a:p>
          <a:p>
            <a:pPr marL="0" indent="0">
              <a:buNone/>
            </a:pPr>
            <a:r>
              <a:rPr lang="en-US" sz="2200">
                <a:latin typeface="Aptos Display"/>
                <a:ea typeface="+mn-lt"/>
                <a:cs typeface="+mn-lt"/>
              </a:rPr>
              <a:t>Metrics:</a:t>
            </a:r>
            <a:endParaRPr lang="en-US" sz="2200">
              <a:latin typeface="Aptos Display"/>
            </a:endParaRPr>
          </a:p>
          <a:p>
            <a:pPr marL="628650" lvl="2" indent="-400050"/>
            <a:r>
              <a:rPr lang="en-US" sz="2200">
                <a:latin typeface="Aptos Display"/>
                <a:ea typeface="+mn-lt"/>
                <a:cs typeface="+mn-lt"/>
              </a:rPr>
              <a:t>AUC: Model's ability to rank predictions correctly</a:t>
            </a:r>
          </a:p>
          <a:p>
            <a:pPr marL="628650" lvl="2" indent="-400050"/>
            <a:r>
              <a:rPr lang="en-US" sz="2200">
                <a:latin typeface="Aptos Display"/>
                <a:ea typeface="+mn-lt"/>
                <a:cs typeface="+mn-lt"/>
              </a:rPr>
              <a:t>€/MWh P&amp;L: Real trading profitability per megawatt-hour</a:t>
            </a:r>
          </a:p>
          <a:p>
            <a:pPr marL="0" lvl="1" indent="0">
              <a:buNone/>
            </a:pPr>
            <a:r>
              <a:rPr lang="en-US" sz="2200">
                <a:latin typeface="Aptos Display"/>
              </a:rPr>
              <a:t>Process:</a:t>
            </a:r>
          </a:p>
          <a:p>
            <a:pPr marL="628650" indent="-400050">
              <a:buAutoNum type="arabicPeriod"/>
            </a:pPr>
            <a:r>
              <a:rPr lang="en-US" sz="2200">
                <a:latin typeface="Aptos Display"/>
                <a:ea typeface="+mn-lt"/>
                <a:cs typeface="+mn-lt"/>
              </a:rPr>
              <a:t>Individual model hyperparameter optimization</a:t>
            </a:r>
            <a:endParaRPr lang="en-US" sz="2200">
              <a:latin typeface="Aptos Display"/>
            </a:endParaRPr>
          </a:p>
          <a:p>
            <a:pPr marL="628650" indent="-400050">
              <a:buAutoNum type="arabicPeriod"/>
            </a:pPr>
            <a:r>
              <a:rPr lang="en-US" sz="2200">
                <a:latin typeface="Aptos Display"/>
                <a:ea typeface="+mn-lt"/>
                <a:cs typeface="+mn-lt"/>
              </a:rPr>
              <a:t>Cross-validation on time-series splits</a:t>
            </a:r>
          </a:p>
          <a:p>
            <a:pPr marL="628650" indent="-400050">
              <a:buAutoNum type="arabicPeriod"/>
            </a:pPr>
            <a:r>
              <a:rPr lang="en-US" sz="2200">
                <a:latin typeface="Aptos Display"/>
                <a:ea typeface="+mn-lt"/>
                <a:cs typeface="+mn-lt"/>
              </a:rPr>
              <a:t>Ensemble stacking for robustness</a:t>
            </a:r>
            <a:endParaRPr lang="en-US" sz="2200">
              <a:latin typeface="Aptos Display"/>
            </a:endParaRPr>
          </a:p>
          <a:p>
            <a:pPr marL="628650" indent="-400050">
              <a:buAutoNum type="arabicPeriod"/>
            </a:pPr>
            <a:r>
              <a:rPr lang="en-US" sz="2200">
                <a:latin typeface="Aptos Display"/>
                <a:ea typeface="+mn-lt"/>
                <a:cs typeface="+mn-lt"/>
              </a:rPr>
              <a:t>Threshold optimization for €/MWh maximization</a:t>
            </a:r>
            <a:endParaRPr lang="en-US" sz="2200">
              <a:latin typeface="Aptos Display"/>
            </a:endParaRPr>
          </a:p>
          <a:p>
            <a:pPr marL="628650" lvl="2" indent="-400050"/>
            <a:endParaRPr lang="en-US" sz="220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329810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F9884-AD14-D0B9-571D-17F807866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5807"/>
            <a:ext cx="10515600" cy="47109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latin typeface="Aptos Display"/>
                <a:cs typeface="Arial"/>
              </a:rPr>
              <a:t>Step 1:</a:t>
            </a:r>
            <a:r>
              <a:rPr lang="en-US" sz="1800">
                <a:latin typeface="Aptos Display"/>
                <a:cs typeface="Arial"/>
              </a:rPr>
              <a:t> Model predicts price movement direction,</a:t>
            </a:r>
          </a:p>
          <a:p>
            <a:pPr lvl="1"/>
            <a:r>
              <a:rPr lang="en-US" sz="1800">
                <a:latin typeface="Aptos"/>
              </a:rPr>
              <a:t>The model looks at market data and predicts whether </a:t>
            </a:r>
            <a:r>
              <a:rPr lang="en-US" sz="1800" b="1">
                <a:latin typeface="Aptos"/>
              </a:rPr>
              <a:t>Day-Ahead Market (DAM) prices will be</a:t>
            </a:r>
          </a:p>
          <a:p>
            <a:pPr marL="457200" lvl="1" indent="0">
              <a:buNone/>
            </a:pPr>
            <a:r>
              <a:rPr lang="en-US" sz="1800" b="1">
                <a:latin typeface="Aptos"/>
              </a:rPr>
              <a:t>       higher or IDA1 (Intraday) prices </a:t>
            </a:r>
            <a:r>
              <a:rPr lang="en-US" sz="1800">
                <a:latin typeface="Aptos"/>
              </a:rPr>
              <a:t>will be lower in the next 30 minutes.</a:t>
            </a:r>
            <a:endParaRPr lang="en-US">
              <a:latin typeface="Aptos"/>
            </a:endParaRPr>
          </a:p>
          <a:p>
            <a:pPr lvl="1"/>
            <a:r>
              <a:rPr lang="en-US" sz="1800">
                <a:latin typeface="Aptos"/>
              </a:rPr>
              <a:t>Trading profits depend more on getting the direction right than predicting exact prices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>
                <a:latin typeface="Aptos"/>
              </a:rPr>
              <a:t>If DAM &gt; IDA1 → Buy DAM, sell IDA1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>
                <a:latin typeface="Aptos"/>
              </a:rPr>
              <a:t>If IDA1 &gt; DAM → Buy IDA1, sell DAM </a:t>
            </a:r>
            <a:endParaRPr lang="en-US">
              <a:latin typeface="Aptos"/>
            </a:endParaRPr>
          </a:p>
          <a:p>
            <a:r>
              <a:rPr lang="en-US" sz="1800" b="1">
                <a:latin typeface="Aptos Display"/>
                <a:cs typeface="Arial"/>
              </a:rPr>
              <a:t>Step 2:</a:t>
            </a:r>
            <a:r>
              <a:rPr lang="en-US" sz="1800">
                <a:latin typeface="Aptos Display"/>
                <a:cs typeface="Arial"/>
              </a:rPr>
              <a:t> Prediction direction is decided based on price difference between DAM and IDA1</a:t>
            </a:r>
          </a:p>
          <a:p>
            <a:pPr lvl="1"/>
            <a:endParaRPr lang="en-US" sz="900" b="1">
              <a:latin typeface="Aptos" panose="02110004020202020204"/>
              <a:cs typeface="Arial"/>
            </a:endParaRPr>
          </a:p>
          <a:p>
            <a:pPr lvl="1"/>
            <a:endParaRPr lang="en-US" sz="1800" b="1">
              <a:latin typeface="Aptos Display"/>
              <a:cs typeface="Arial"/>
            </a:endParaRPr>
          </a:p>
          <a:p>
            <a:pPr lvl="1"/>
            <a:r>
              <a:rPr lang="en-US" sz="1800" b="1">
                <a:latin typeface="Aptos Display"/>
                <a:ea typeface="+mn-lt"/>
                <a:cs typeface="+mn-lt"/>
              </a:rPr>
              <a:t>Positive difference</a:t>
            </a:r>
            <a:r>
              <a:rPr lang="en-US" sz="1800">
                <a:latin typeface="Aptos Display"/>
                <a:ea typeface="+mn-lt"/>
                <a:cs typeface="+mn-lt"/>
              </a:rPr>
              <a:t> (DAM &gt; IDA1) →  </a:t>
            </a:r>
            <a:r>
              <a:rPr lang="en-US" sz="1800" b="1">
                <a:latin typeface="Aptos Display"/>
                <a:ea typeface="+mn-lt"/>
                <a:cs typeface="+mn-lt"/>
              </a:rPr>
              <a:t>BUY</a:t>
            </a:r>
            <a:r>
              <a:rPr lang="en-US" sz="1800">
                <a:latin typeface="Aptos Display"/>
                <a:ea typeface="+mn-lt"/>
                <a:cs typeface="+mn-lt"/>
              </a:rPr>
              <a:t> (trade into DAM)</a:t>
            </a:r>
            <a:endParaRPr lang="en-US" sz="1800">
              <a:latin typeface="Aptos Display"/>
              <a:cs typeface="Arial"/>
            </a:endParaRPr>
          </a:p>
          <a:p>
            <a:pPr lvl="1"/>
            <a:r>
              <a:rPr lang="en-US" sz="1800" b="1">
                <a:latin typeface="Aptos Display"/>
                <a:ea typeface="+mn-lt"/>
                <a:cs typeface="+mn-lt"/>
              </a:rPr>
              <a:t>Negative difference</a:t>
            </a:r>
            <a:r>
              <a:rPr lang="en-US" sz="1800">
                <a:latin typeface="Aptos Display"/>
                <a:ea typeface="+mn-lt"/>
                <a:cs typeface="+mn-lt"/>
              </a:rPr>
              <a:t> (IDA1 &gt; DAM) → </a:t>
            </a:r>
            <a:r>
              <a:rPr lang="en-US" sz="1800" b="1">
                <a:latin typeface="Aptos Display"/>
                <a:ea typeface="+mn-lt"/>
                <a:cs typeface="+mn-lt"/>
              </a:rPr>
              <a:t>SELL</a:t>
            </a:r>
            <a:r>
              <a:rPr lang="en-US" sz="1800">
                <a:latin typeface="Aptos Display"/>
                <a:ea typeface="+mn-lt"/>
                <a:cs typeface="+mn-lt"/>
              </a:rPr>
              <a:t> (trade into IDA1)</a:t>
            </a:r>
            <a:endParaRPr lang="en-US" sz="1800">
              <a:latin typeface="Aptos Display"/>
            </a:endParaRPr>
          </a:p>
          <a:p>
            <a:r>
              <a:rPr lang="en-US" sz="1800" b="1">
                <a:latin typeface="Aptos Display"/>
                <a:cs typeface="Arial"/>
              </a:rPr>
              <a:t>Step 3:</a:t>
            </a:r>
            <a:r>
              <a:rPr lang="en-US" sz="1800">
                <a:latin typeface="Aptos Display"/>
                <a:cs typeface="Arial"/>
              </a:rPr>
              <a:t> Trading decision made based on thresholds of prediction probability,</a:t>
            </a:r>
            <a:endParaRPr lang="en-US" sz="1800">
              <a:solidFill>
                <a:srgbClr val="000000"/>
              </a:solidFill>
              <a:latin typeface="Aptos Display"/>
              <a:cs typeface="Arial"/>
            </a:endParaRPr>
          </a:p>
          <a:p>
            <a:endParaRPr lang="en-US" sz="1800">
              <a:latin typeface="Aptos Display"/>
              <a:cs typeface="Arial"/>
            </a:endParaRPr>
          </a:p>
          <a:p>
            <a:pPr marL="0" indent="0">
              <a:buNone/>
            </a:pPr>
            <a:endParaRPr lang="en-US" sz="1800">
              <a:latin typeface="Aptos Display"/>
              <a:cs typeface="Arial"/>
            </a:endParaRPr>
          </a:p>
          <a:p>
            <a:pPr marL="0" indent="0">
              <a:buNone/>
            </a:pPr>
            <a:endParaRPr lang="en-US" sz="1800">
              <a:latin typeface="Aptos Display"/>
              <a:cs typeface="Arial"/>
            </a:endParaRPr>
          </a:p>
          <a:p>
            <a:pPr marL="0" indent="0">
              <a:buNone/>
            </a:pPr>
            <a:endParaRPr lang="en-US" sz="1800">
              <a:latin typeface="Aptos Display"/>
              <a:cs typeface="Arial"/>
            </a:endParaRPr>
          </a:p>
          <a:p>
            <a:endParaRPr lang="en-US" sz="1800">
              <a:latin typeface="Aptos Display"/>
              <a:cs typeface="Arial"/>
            </a:endParaRPr>
          </a:p>
          <a:p>
            <a:pPr lvl="1"/>
            <a:endParaRPr lang="en-US" sz="1400">
              <a:latin typeface="Aptos Display"/>
              <a:cs typeface="Arial"/>
            </a:endParaRPr>
          </a:p>
          <a:p>
            <a:pPr lvl="1"/>
            <a:endParaRPr lang="en-US" sz="1400">
              <a:latin typeface="Aptos Display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A5980-A724-A1AD-3BFB-55CD0863E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809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Model Trading Strategy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0B620D-D1C0-84CF-347C-8859E4D0397C}"/>
              </a:ext>
            </a:extLst>
          </p:cNvPr>
          <p:cNvSpPr/>
          <p:nvPr/>
        </p:nvSpPr>
        <p:spPr>
          <a:xfrm>
            <a:off x="3723860" y="3590342"/>
            <a:ext cx="4897604" cy="410816"/>
          </a:xfrm>
          <a:prstGeom prst="roundRect">
            <a:avLst/>
          </a:prstGeom>
          <a:solidFill>
            <a:srgbClr val="F7AD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700">
              <a:solidFill>
                <a:srgbClr val="000000"/>
              </a:solidFill>
              <a:latin typeface="Aptos Display"/>
            </a:endParaRPr>
          </a:p>
          <a:p>
            <a:pPr algn="ctr"/>
            <a:r>
              <a:rPr lang="en-US" sz="1700" b="1">
                <a:solidFill>
                  <a:srgbClr val="000000"/>
                </a:solidFill>
                <a:latin typeface="Aptos Display"/>
              </a:rPr>
              <a:t>Prediction Direction = DAM Price - IDA1 Price</a:t>
            </a:r>
            <a:endParaRPr lang="en-US" b="1"/>
          </a:p>
          <a:p>
            <a:pPr algn="ctr"/>
            <a:endParaRPr lang="en-US" b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D4A888-90DD-5464-8ECE-B945A20D00F8}"/>
              </a:ext>
            </a:extLst>
          </p:cNvPr>
          <p:cNvSpPr/>
          <p:nvPr/>
        </p:nvSpPr>
        <p:spPr>
          <a:xfrm>
            <a:off x="3605160" y="5178323"/>
            <a:ext cx="5211097" cy="1179870"/>
          </a:xfrm>
          <a:prstGeom prst="roundRect">
            <a:avLst/>
          </a:prstGeom>
          <a:solidFill>
            <a:srgbClr val="F7AD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>
                <a:solidFill>
                  <a:srgbClr val="000000"/>
                </a:solidFill>
                <a:latin typeface="Aptos Display"/>
              </a:rPr>
              <a:t>If model confidence &gt; 60% (BUY signal) → TRADE BUY </a:t>
            </a: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>
                <a:solidFill>
                  <a:srgbClr val="000000"/>
                </a:solidFill>
                <a:latin typeface="Aptos Display"/>
              </a:rPr>
              <a:t>If model confidence &lt; 30% (SELL signal) → TRADE SELL 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>
                <a:solidFill>
                  <a:srgbClr val="000000"/>
                </a:solidFill>
                <a:latin typeface="Aptos Display"/>
              </a:rPr>
              <a:t>Else → NO TRADE (sit out)</a:t>
            </a:r>
          </a:p>
        </p:txBody>
      </p:sp>
    </p:spTree>
    <p:extLst>
      <p:ext uri="{BB962C8B-B14F-4D97-AF65-F5344CB8AC3E}">
        <p14:creationId xmlns:p14="http://schemas.microsoft.com/office/powerpoint/2010/main" val="95376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31447-BD78-5F31-B1D7-3B32A6E7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7F507-1654-33E0-7F64-D4DF3A43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356261"/>
            <a:ext cx="9721548" cy="167490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C00000"/>
                </a:solidFill>
              </a:rPr>
              <a:t>Model Trading Strategy: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4C6B3-A34A-D5DE-05C9-0226753B1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>
              <a:latin typeface="Aptos Display"/>
              <a:cs typeface="Arial"/>
            </a:endParaRPr>
          </a:p>
          <a:p>
            <a:pPr lvl="1"/>
            <a:endParaRPr lang="en-US" sz="2000">
              <a:latin typeface="Aptos Display"/>
              <a:cs typeface="Arial"/>
            </a:endParaRPr>
          </a:p>
          <a:p>
            <a:pPr lvl="1"/>
            <a:endParaRPr lang="en-US" sz="2000">
              <a:latin typeface="Aptos Display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31AA4-7D15-7916-5541-A6F2F155BCE8}"/>
              </a:ext>
            </a:extLst>
          </p:cNvPr>
          <p:cNvSpPr txBox="1"/>
          <p:nvPr/>
        </p:nvSpPr>
        <p:spPr>
          <a:xfrm>
            <a:off x="2245032" y="6227096"/>
            <a:ext cx="83410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 Display"/>
                <a:ea typeface="+mn-lt"/>
                <a:cs typeface="+mn-lt"/>
              </a:rPr>
              <a:t>Visual Example: ~24-Hour Trading Activity</a:t>
            </a:r>
            <a:endParaRPr lang="en-US">
              <a:latin typeface="Aptos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7C75E-9809-0439-5274-26C61876C2C2}"/>
              </a:ext>
            </a:extLst>
          </p:cNvPr>
          <p:cNvSpPr txBox="1"/>
          <p:nvPr/>
        </p:nvSpPr>
        <p:spPr>
          <a:xfrm>
            <a:off x="786580" y="1868128"/>
            <a:ext cx="1122516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ptos Display"/>
                <a:ea typeface="+mn-lt"/>
                <a:cs typeface="+mn-lt"/>
              </a:rPr>
              <a:t>Chart shows one trading day (~24 half-hour intervals)</a:t>
            </a:r>
            <a:endParaRPr lang="en-US" sz="2000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ptos Display"/>
                <a:ea typeface="+mn-lt"/>
                <a:cs typeface="+mn-lt"/>
              </a:rPr>
              <a:t>Green bars UP = BUY signals 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ptos Display"/>
                <a:ea typeface="+mn-lt"/>
                <a:cs typeface="+mn-lt"/>
              </a:rPr>
              <a:t>Red bars DOWN = SELL signals 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ptos Display"/>
                <a:ea typeface="+mn-lt"/>
                <a:cs typeface="+mn-lt"/>
              </a:rPr>
              <a:t>No Bars = NO TRADE</a:t>
            </a:r>
          </a:p>
        </p:txBody>
      </p:sp>
      <p:pic>
        <p:nvPicPr>
          <p:cNvPr id="4" name="Picture 3" descr="A chart with green and red bars&#10;&#10;AI-generated content may be incorrect.">
            <a:extLst>
              <a:ext uri="{FF2B5EF4-FFF2-40B4-BE49-F238E27FC236}">
                <a16:creationId xmlns:a16="http://schemas.microsoft.com/office/drawing/2014/main" id="{A2FE8443-0567-2D80-4EA7-FFCFA9F84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26" y="3192946"/>
            <a:ext cx="1143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08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FBE0-0CF4-AF21-50A8-CE801A0F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Performance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3E8CD-3A5D-8663-DC1C-206D49426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825625"/>
            <a:ext cx="3200402" cy="348282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400" b="1">
                <a:latin typeface="Aptos Display"/>
              </a:rPr>
              <a:t>Total test period:</a:t>
            </a:r>
            <a:r>
              <a:rPr lang="en-US" sz="2400">
                <a:latin typeface="Aptos Display"/>
              </a:rPr>
              <a:t> 10,173 half-hour slots</a:t>
            </a:r>
          </a:p>
          <a:p>
            <a:r>
              <a:rPr lang="en-US" sz="2400" b="1">
                <a:latin typeface="Aptos Display"/>
              </a:rPr>
              <a:t>Active trading</a:t>
            </a:r>
            <a:r>
              <a:rPr lang="en-US" sz="2400">
                <a:latin typeface="Aptos Display"/>
              </a:rPr>
              <a:t>: 3,658 periods (36% selective)</a:t>
            </a:r>
          </a:p>
          <a:p>
            <a:pPr marL="0" indent="0">
              <a:buNone/>
            </a:pPr>
            <a:endParaRPr lang="en-US" sz="2400">
              <a:latin typeface="Aptos Display"/>
            </a:endParaRPr>
          </a:p>
          <a:p>
            <a:pPr marL="0" indent="0">
              <a:buNone/>
            </a:pPr>
            <a:endParaRPr lang="en-US" sz="2400">
              <a:latin typeface="Aptos Display"/>
            </a:endParaRPr>
          </a:p>
          <a:p>
            <a:pPr marL="285750" lvl="1"/>
            <a:r>
              <a:rPr lang="en-US" b="1">
                <a:latin typeface="Aptos Display"/>
              </a:rPr>
              <a:t>Model Accuracy</a:t>
            </a:r>
            <a:r>
              <a:rPr lang="en-US">
                <a:latin typeface="Aptos Display"/>
              </a:rPr>
              <a:t>: 72.2% </a:t>
            </a:r>
          </a:p>
          <a:p>
            <a:pPr marL="285750" lvl="1"/>
            <a:r>
              <a:rPr lang="en-US" b="1">
                <a:latin typeface="Aptos Display"/>
              </a:rPr>
              <a:t>Profit per  MWh</a:t>
            </a:r>
            <a:r>
              <a:rPr lang="en-US">
                <a:latin typeface="Aptos Display"/>
              </a:rPr>
              <a:t>: 13.34 €/MWh</a:t>
            </a:r>
          </a:p>
          <a:p>
            <a:pPr marL="285750" lvl="1"/>
            <a:r>
              <a:rPr lang="en-US">
                <a:latin typeface="Aptos Display"/>
              </a:rPr>
              <a:t>Total Profit: €48800</a:t>
            </a:r>
            <a:endParaRPr lang="en-US" sz="2000">
              <a:latin typeface="Aptos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CBE36-62B3-E42B-A415-2DB0541685B7}"/>
              </a:ext>
            </a:extLst>
          </p:cNvPr>
          <p:cNvSpPr txBox="1"/>
          <p:nvPr/>
        </p:nvSpPr>
        <p:spPr>
          <a:xfrm>
            <a:off x="704645" y="5456902"/>
            <a:ext cx="10962967" cy="12952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ct val="90000"/>
              </a:lnSpc>
              <a:spcBef>
                <a:spcPts val="500"/>
              </a:spcBef>
            </a:pPr>
            <a:r>
              <a:rPr lang="en-US" sz="2000" b="1">
                <a:latin typeface="Aptos Display"/>
              </a:rPr>
              <a:t>Trading Results</a:t>
            </a:r>
            <a:r>
              <a:rPr lang="en-US" sz="2000">
                <a:latin typeface="Aptos Display"/>
              </a:rPr>
              <a:t>: </a:t>
            </a:r>
          </a:p>
          <a:p>
            <a:pPr marL="0"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>
                <a:latin typeface="Aptos Display"/>
              </a:rPr>
              <a:t>Based  on model predictions 3658 trades were made from 10173 which results in trade percentage of more than 36%</a:t>
            </a:r>
          </a:p>
          <a:p>
            <a:pPr algn="l"/>
            <a:endParaRPr lang="en-US" sz="2000">
              <a:latin typeface="Aptos Display"/>
            </a:endParaRPr>
          </a:p>
        </p:txBody>
      </p:sp>
      <p:pic>
        <p:nvPicPr>
          <p:cNvPr id="6" name="Picture 5" descr="A graph of red lines&#10;&#10;AI-generated content may be incorrect.">
            <a:extLst>
              <a:ext uri="{FF2B5EF4-FFF2-40B4-BE49-F238E27FC236}">
                <a16:creationId xmlns:a16="http://schemas.microsoft.com/office/drawing/2014/main" id="{E4657166-36CF-D80D-87B3-6B67180913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3" b="-298"/>
          <a:stretch>
            <a:fillRect/>
          </a:stretch>
        </p:blipFill>
        <p:spPr>
          <a:xfrm>
            <a:off x="3785151" y="1518201"/>
            <a:ext cx="7848905" cy="379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18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B8CD9-C308-81E3-5BE0-9DE82BE9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72D4E-991A-E59C-B4F2-610E3325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C00000"/>
                </a:solidFill>
              </a:rPr>
              <a:t>Performance Results: Cumulative P&amp;L Chart</a:t>
            </a:r>
          </a:p>
        </p:txBody>
      </p:sp>
      <p:pic>
        <p:nvPicPr>
          <p:cNvPr id="4" name="Picture 3" descr="A graph with blue line and text&#10;&#10;AI-generated content may be incorrect.">
            <a:extLst>
              <a:ext uri="{FF2B5EF4-FFF2-40B4-BE49-F238E27FC236}">
                <a16:creationId xmlns:a16="http://schemas.microsoft.com/office/drawing/2014/main" id="{41F5E490-2E1F-7A0C-6376-FD04FD50C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26" y="1491698"/>
            <a:ext cx="9922565" cy="496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85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406E-2162-01D0-D60D-41299056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3077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C00000"/>
                </a:solidFill>
                <a:ea typeface="+mj-lt"/>
                <a:cs typeface="+mj-lt"/>
              </a:rPr>
              <a:t>Conclusion: Data-Driven Energy Arbitrage Strategy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E4474-89E2-FBEA-A1D2-C3BA04CFD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66" y="1259274"/>
            <a:ext cx="10927491" cy="5484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Identified and exploited DAM–IDA1 arbitrage opportunities using market fundamentals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Developed time-series safe binary classification models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Applied ensemble modelling with probability-based trade filtering</a:t>
            </a:r>
            <a:endParaRPr lang="en-US" sz="2000"/>
          </a:p>
          <a:p>
            <a:pPr indent="0">
              <a:buNone/>
            </a:pPr>
            <a:r>
              <a:rPr lang="en-US" sz="2600" b="1">
                <a:ea typeface="+mn-lt"/>
                <a:cs typeface="+mn-lt"/>
              </a:rPr>
              <a:t>Results:</a:t>
            </a:r>
            <a:endParaRPr lang="en-US" sz="26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Strong directional prediction  AUC ≈ 0.70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Generated €13.34 profit per MWh in out-of-sample testing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Controlled trade frequency through confidence thresholds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Stable cumulative P&amp;L in out-of-sample testing</a:t>
            </a:r>
            <a:endParaRPr lang="en-US"/>
          </a:p>
          <a:p>
            <a:pPr>
              <a:buFont typeface="Arial"/>
              <a:buChar char="•"/>
            </a:pPr>
            <a:endParaRPr lang="en-US" sz="2000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81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D5B8-1F8C-9706-842F-7FAD0274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  <a:latin typeface="Aptos"/>
              </a:rPr>
              <a:t>Strategic Insights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4492-E6D9-6F56-1C98-0FDE704CB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This framework provides: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Improved margin </a:t>
            </a:r>
            <a:r>
              <a:rPr lang="en-US" sz="2000" err="1">
                <a:ea typeface="+mn-lt"/>
                <a:cs typeface="+mn-lt"/>
              </a:rPr>
              <a:t>optimisation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Reduced discretionary trading bias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Scalable architecture for other market spreads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 foundation for live pilot deployment and integration into Energia’s trading development workflow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Data-driven arbitrage can systematically improve profitability while maintaining disciplined risk control.</a:t>
            </a:r>
            <a:endParaRPr lang="en-US" sz="2000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61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9FBB-2609-F6B4-603D-7F6A7FA7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  <a:ea typeface="+mj-lt"/>
                <a:cs typeface="+mj-lt"/>
              </a:rPr>
              <a:t>Business Impact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0F013-1DFA-FCB3-9E85-27E451E22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57" y="1825625"/>
            <a:ext cx="1073184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600">
                <a:ea typeface="+mn-lt"/>
                <a:cs typeface="+mn-lt"/>
              </a:rPr>
              <a:t>For Energia, this framework:</a:t>
            </a:r>
            <a:endParaRPr lang="en-US" sz="2600"/>
          </a:p>
          <a:p>
            <a:pPr algn="just"/>
            <a:r>
              <a:rPr lang="en-US" sz="2000">
                <a:ea typeface="+mn-lt"/>
                <a:cs typeface="+mn-lt"/>
              </a:rPr>
              <a:t>Enhances wholesale trading margin </a:t>
            </a:r>
            <a:r>
              <a:rPr lang="en-US" sz="2000" err="1">
                <a:ea typeface="+mn-lt"/>
                <a:cs typeface="+mn-lt"/>
              </a:rPr>
              <a:t>optimisation</a:t>
            </a:r>
            <a:endParaRPr lang="en-US" sz="2000" err="1"/>
          </a:p>
          <a:p>
            <a:pPr algn="just"/>
            <a:r>
              <a:rPr lang="en-US" sz="2000">
                <a:ea typeface="+mn-lt"/>
                <a:cs typeface="+mn-lt"/>
              </a:rPr>
              <a:t>Reduces reliance on discretionary judgement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Improves exploitation of renewable-driven volatility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Provides scalable architecture for other market spreads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Can be integrated into automated trading support systems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Given Energia’s trading volume, even incremental €/MWh improvements can generate substantial </a:t>
            </a:r>
            <a:r>
              <a:rPr lang="en-US" sz="2000" err="1">
                <a:ea typeface="+mn-lt"/>
                <a:cs typeface="+mn-lt"/>
              </a:rPr>
              <a:t>annualised</a:t>
            </a:r>
            <a:r>
              <a:rPr lang="en-US" sz="2000">
                <a:ea typeface="+mn-lt"/>
                <a:cs typeface="+mn-lt"/>
              </a:rPr>
              <a:t> value.</a:t>
            </a:r>
            <a:endParaRPr lang="en-US" sz="2000"/>
          </a:p>
          <a:p>
            <a:pPr algn="just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12353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53A0-2459-AD23-8457-37802780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  <a:latin typeface="Aptos"/>
              </a:rPr>
              <a:t>Future Development &amp;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CBE02-A30E-9918-85DD-39EF9C78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65" y="1485814"/>
            <a:ext cx="10515600" cy="4804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While the </a:t>
            </a:r>
            <a:r>
              <a:rPr lang="en-US" sz="2000" err="1">
                <a:ea typeface="+mn-lt"/>
                <a:cs typeface="+mn-lt"/>
              </a:rPr>
              <a:t>backtested</a:t>
            </a:r>
            <a:r>
              <a:rPr lang="en-US" sz="2000">
                <a:ea typeface="+mn-lt"/>
                <a:cs typeface="+mn-lt"/>
              </a:rPr>
              <a:t> results demonstrate strong economic viability, the next phase involves: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Deploying a live pilot with controlled capital to validate real-time execution performance.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Incorporating regime detection mechanisms to adapt trading aggressiveness during structural market shifts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Further refining ensemble weighting and probability thresholds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Integrating the framework into Energia’s Trading Development workflow for scalable deployment</a:t>
            </a:r>
            <a:endParaRPr lang="en-US" sz="2000"/>
          </a:p>
          <a:p>
            <a:pPr algn="just"/>
            <a:r>
              <a:rPr lang="en-US" sz="2000">
                <a:ea typeface="+mn-lt"/>
                <a:cs typeface="+mn-lt"/>
              </a:rPr>
              <a:t>This ensures the strategy transitions from research validation to operational impact.</a:t>
            </a:r>
            <a:endParaRPr lang="en-US" sz="2000"/>
          </a:p>
          <a:p>
            <a:pPr marL="0" indent="0" algn="just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7888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Analytics in Action: Energy Arbitrage Trading Strategy</vt:lpstr>
      <vt:lpstr>Energia context</vt:lpstr>
      <vt:lpstr>Project Focus</vt:lpstr>
      <vt:lpstr>The Market Opportunity – Energy Arbitrage</vt:lpstr>
      <vt:lpstr>The challenge</vt:lpstr>
      <vt:lpstr>The Dataset</vt:lpstr>
      <vt:lpstr>Choice of Market Spread</vt:lpstr>
      <vt:lpstr>Market Behavior Over Time</vt:lpstr>
      <vt:lpstr>Feature Engineering – Turning Data into Signals</vt:lpstr>
      <vt:lpstr>Market Spread and Net Demand</vt:lpstr>
      <vt:lpstr>Modelling Approach: Framework</vt:lpstr>
      <vt:lpstr>Modelling Approach: Systematic Model Evaluation</vt:lpstr>
      <vt:lpstr>Model Trading Strategy</vt:lpstr>
      <vt:lpstr>Model Trading Strategy: Visualization</vt:lpstr>
      <vt:lpstr>Performance Results</vt:lpstr>
      <vt:lpstr>Performance Results: Cumulative P&amp;L Chart</vt:lpstr>
      <vt:lpstr>Conclusion: Data-Driven Energy Arbitrage Strategy</vt:lpstr>
      <vt:lpstr>Strategic Insights</vt:lpstr>
      <vt:lpstr>Business Impact</vt:lpstr>
      <vt:lpstr>Future Development &amp;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Foreman</dc:creator>
  <cp:revision>2</cp:revision>
  <dcterms:created xsi:type="dcterms:W3CDTF">2026-02-11T12:37:26Z</dcterms:created>
  <dcterms:modified xsi:type="dcterms:W3CDTF">2026-04-27T20:12:37Z</dcterms:modified>
</cp:coreProperties>
</file>